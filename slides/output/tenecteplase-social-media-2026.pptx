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D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651760"/>
            <a:ext cx="3200400" cy="54864"/>
          </a:xfrm>
          <a:prstGeom prst="rect">
            <a:avLst/>
          </a:prstGeom>
          <a:solidFill>
            <a:srgbClr val="FFDDD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Tenecteplase in Stroke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Landscape — What's the Buzz?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3657600"/>
            <a:ext cx="1645920" cy="1645920"/>
          </a:xfrm>
          <a:prstGeom prst="ellipse">
            <a:avLst/>
          </a:prstGeom>
          <a:solidFill>
            <a:srgbClr val="83C5B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4023360"/>
            <a:ext cx="1097280" cy="1097280"/>
          </a:xfrm>
          <a:prstGeom prst="ellipse">
            <a:avLst/>
          </a:prstGeom>
          <a:solidFill>
            <a:srgbClr val="E29578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16152"/>
            <a:ext cx="438912" cy="438912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16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Evidence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47218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studies: AcT, TNK-TPA, TRACE-III, TIMELESS, TRACE-5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19656"/>
            <a:ext cx="8229600" cy="9144"/>
          </a:xfrm>
          <a:prstGeom prst="rect">
            <a:avLst/>
          </a:prstGeom>
          <a:solidFill>
            <a:srgbClr val="FFDDD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29384"/>
            <a:ext cx="438912" cy="438912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93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856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AHA/ASA Guidelines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18541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I-equivalent recommendation, dosing, expanded windows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32888"/>
            <a:ext cx="8229600" cy="9144"/>
          </a:xfrm>
          <a:prstGeom prst="rect">
            <a:avLst/>
          </a:prstGeom>
          <a:solidFill>
            <a:srgbClr val="FFDDD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642616"/>
            <a:ext cx="438912" cy="438912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426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5694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 Discourse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8986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trending, key themes, viral posts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9144"/>
          </a:xfrm>
          <a:prstGeom prst="rect">
            <a:avLst/>
          </a:prstGeom>
          <a:solidFill>
            <a:srgbClr val="FFDDD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55848"/>
            <a:ext cx="438912" cy="438912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558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2826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Sentiment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611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&amp; LinkedIn opinions, adoption trends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59352"/>
            <a:ext cx="8229600" cy="9144"/>
          </a:xfrm>
          <a:prstGeom prst="rect">
            <a:avLst/>
          </a:prstGeom>
          <a:solidFill>
            <a:srgbClr val="FFDDD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069080"/>
            <a:ext cx="438912" cy="438912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69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9959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432511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+ content angles for medical content creation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Evidence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trials &amp; meta-analyses — updated March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4416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06D7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3441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Practice-Defining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655064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Trial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92938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 ≤4.5h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12140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Tenecteplase non-inferior to alteplase; now standard of care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34416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83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3441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LVO Focus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1655064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TNK-TPA / NMA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01568" y="192938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 LVO + EVT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1568" y="212140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TNK bridging → better 90d mRS than EVT alone or alteplase+EVT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34416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DD2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13441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Window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TRACE-III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192938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 4.5–24h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6208" y="212140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outcomes in perfusion-mismatch patients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81635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" y="29260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DD2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926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Window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323697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3511296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window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37033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— no benefit in unselected late window population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281635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01568" y="29260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DD2"/>
          </a:solidFill>
          <a:ln/>
        </p:spPr>
      </p:sp>
      <p:sp>
        <p:nvSpPr>
          <p:cNvPr id="31" name="Text 29"/>
          <p:cNvSpPr/>
          <p:nvPr/>
        </p:nvSpPr>
        <p:spPr>
          <a:xfrm>
            <a:off x="3401568" y="2926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Basilar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01568" y="323697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TRACE-5 (Lancet)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01568" y="3511296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Basilar occlusion ≤24h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01568" y="37033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functional outcomes, no ↑ hemorrhage or mortality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81635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6208" y="29260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37" name="Text 35"/>
          <p:cNvSpPr/>
          <p:nvPr/>
        </p:nvSpPr>
        <p:spPr>
          <a:xfrm>
            <a:off x="6236208" y="2926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36208" y="323697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NMA (Stroke 2026)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6208" y="3511296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RCTs, 4.5–24h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36208" y="37033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NMA to separate EVT± settings — TNK benefits late window when context accounted for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AHA/ASA Stroke Guidelines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change in thrombolysis in a decade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006D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to Alteplase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TNK 0.25 mg/kg within 4.5 hours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3716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TNK 0.25 mg/kg (max 25 mg) — standard dose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1874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TNK 0.4 mg/kg NOT recommended — higher bleeding risk, no added benefit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LVO ≤4.5h: Class I — TNK equivalent to alteplase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880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2834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neuro deficit, no major occlusion: Class IIb — TNK may be considered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3383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3337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Prehospital (mobile stroke unit): TNK suggested over alteplase (weak rec)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886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3840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off-label in the US — but widely adopted globally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9144"/>
          </a:xfrm>
          <a:prstGeom prst="rect">
            <a:avLst/>
          </a:prstGeom>
          <a:solidFill>
            <a:srgbClr val="FFDDD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Reference: Prabhakaran SM et al., 2026 AHA/ASA Guideline for the Early Management of AIS, Stroke. 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FDDD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13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Published: Jan 26, 2026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Twitter/X: What's Trending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guidelines dropped in January — the neuro Twitterverse is still buzzing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4416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34416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Viral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Guidelines Reaction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947672"/>
            <a:ext cx="3758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"Tenecteplase. Large cores. 24-hour basilar window. No aggressive BP lowering. The 2026 Stroke Guidelines just changed how lives will be saved."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34416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6D77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34416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Engagement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645920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TNK Adoption Momentum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18888" y="1947672"/>
            <a:ext cx="3758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"Tenecteplase is gaining ground. And aggressive BP control may actually harm patients. Here's what changed."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89864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83C5B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89864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3200400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Anterior LVO + TNK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3502152"/>
            <a:ext cx="3758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evidence suggests patients with anterior circulation large vessel occlusion — IV tenecteplase plus thrombectomy..."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18888" y="289864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83C5BE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89864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18888" y="3200400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Basilar Artery Window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18888" y="3502152"/>
            <a:ext cx="3758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"Tenecteplase within 24 hours improves functional outcomes in basilar artery occlusion without increasing hemorrhage or mortality risk — TRACE-5"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06D77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2519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Prehospital TNK, large core expansion, and basilar window are the 3 hottest discussion threads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&amp; LinkedIn: Professional Pulse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77640" cy="502920"/>
          </a:xfrm>
          <a:prstGeom prst="rect">
            <a:avLst/>
          </a:prstGeom>
          <a:solidFill>
            <a:srgbClr val="83C5B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— r/neurology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MS3 noticed TNK articles but UpToDate still shows alteplase as first line — community clarifies TNK is non-inferior + cheaper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3042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3042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Trainees see TNK as the inevitable standard; older docs slower to adopt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779776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7797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cited advantage: ~$3,000 cost savings per dose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25526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32552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off-label status creates a gap between evidence and formal guidance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7307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37307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sentiment: curious, cautiously enthusiastic, waiting for broader institutional adoption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188720"/>
            <a:ext cx="397764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188720"/>
            <a:ext cx="3977640" cy="502920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1887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— Physicians &amp; Academics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8288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56632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"Stroke Care Update – Tenecteplase in the 2026 AIS Guideline" — highest engagement posts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3042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56632" y="23042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Reactions: "This changes everything" / "Landscape officially shifted"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56632" y="27797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advantages highlighted: single IV push, fibrin-specific, easier logistics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325526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56632" y="32552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guidelines endorsement giving confidence to early adopters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7307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56632" y="37307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Debate: US off-label status vs global standard of care —professionals unconcerned about liability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TNK vs Alteplase: Adoption Outlook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evidence, practicality, and sentiment are pointing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011680" cy="475488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3017520" cy="475488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23444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Tenecteplase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1234440"/>
            <a:ext cx="3017520" cy="475488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23444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Alteplase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09928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709928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709928"/>
            <a:ext cx="3017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709928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I-equivalent (2026)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709928"/>
            <a:ext cx="3017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9552" y="1709928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of care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2011680" cy="438912"/>
          </a:xfrm>
          <a:prstGeom prst="rect">
            <a:avLst/>
          </a:prstGeom>
          <a:solidFill>
            <a:srgbClr val="EDF6F9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14884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148840"/>
            <a:ext cx="3017520" cy="438912"/>
          </a:xfrm>
          <a:prstGeom prst="rect">
            <a:avLst/>
          </a:prstGeom>
          <a:solidFill>
            <a:srgbClr val="EDF6F9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2148840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IV push (0.25 mg/kg)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148840"/>
            <a:ext cx="3017520" cy="438912"/>
          </a:xfrm>
          <a:prstGeom prst="rect">
            <a:avLst/>
          </a:prstGeom>
          <a:solidFill>
            <a:srgbClr val="EDF6F9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2148840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1-hour infusion (0.9 mg/kg)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58775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587752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2587752"/>
            <a:ext cx="3017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2587752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$3,000 cheaper per dose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2587752"/>
            <a:ext cx="3017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2587752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pricing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026664"/>
            <a:ext cx="2011680" cy="438912"/>
          </a:xfrm>
          <a:prstGeom prst="rect">
            <a:avLst/>
          </a:prstGeom>
          <a:solidFill>
            <a:srgbClr val="EDF6F9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026664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Status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3026664"/>
            <a:ext cx="3017520" cy="438912"/>
          </a:xfrm>
          <a:prstGeom prst="rect">
            <a:avLst/>
          </a:prstGeom>
          <a:solidFill>
            <a:srgbClr val="EDF6F9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3026664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Off-label (stroke)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0" y="3026664"/>
            <a:ext cx="3017520" cy="438912"/>
          </a:xfrm>
          <a:prstGeom prst="rect">
            <a:avLst/>
          </a:prstGeom>
          <a:solidFill>
            <a:srgbClr val="EDF6F9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9552" y="3026664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approved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465576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465576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Use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468880" y="3465576"/>
            <a:ext cx="3017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3465576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Widely adopted (India, Europe, AU)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0" y="3465576"/>
            <a:ext cx="3017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9552" y="3465576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dominant in US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904488"/>
            <a:ext cx="2011680" cy="438912"/>
          </a:xfrm>
          <a:prstGeom prst="rect">
            <a:avLst/>
          </a:prstGeom>
          <a:solidFill>
            <a:srgbClr val="EDF6F9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904488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Practicality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68880" y="3904488"/>
            <a:ext cx="3017520" cy="438912"/>
          </a:xfrm>
          <a:prstGeom prst="rect">
            <a:avLst/>
          </a:prstGeom>
          <a:solidFill>
            <a:srgbClr val="EDF6F9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904488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Fibrin-specific, easier logistics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0" y="3904488"/>
            <a:ext cx="3017520" cy="438912"/>
          </a:xfrm>
          <a:prstGeom prst="rect">
            <a:avLst/>
          </a:prstGeom>
          <a:solidFill>
            <a:srgbClr val="EDF6F9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9552" y="3904488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infusion pump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343400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434340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Sentiment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468880" y="4343400"/>
            <a:ext cx="3017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2032" y="4343400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Trending, enthusiastic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0" y="4343400"/>
            <a:ext cx="3017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FDDD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9552" y="4343400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Viewed as legacy option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06D77"/>
          </a:solidFill>
          <a:ln/>
        </p:spPr>
      </p:sp>
      <p:sp>
        <p:nvSpPr>
          <p:cNvPr id="54" name="Text 52"/>
          <p:cNvSpPr/>
          <p:nvPr/>
        </p:nvSpPr>
        <p:spPr>
          <a:xfrm>
            <a:off x="594360" y="42519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TNK adoption is inevitable — question is how fast, not whether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Content Angles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01168" cy="201168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4173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AHA/ASA guidelines make TNK Class I-equivalent to alteplase within 4.5h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201168" cy="201168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745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TNK 0.4 mg/kg is explicitly NOT recommended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95728"/>
            <a:ext cx="201168" cy="201168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3317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Basilar artery window expanded to 24h (TRACE-5); ATTENTION-LATE neutral for thrombectomy add-on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201168" cy="201168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7889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IV push + ~$3K cost saving = compelling institutional argument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201168" cy="201168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2461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still off-label; globally already standard of care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67328"/>
            <a:ext cx="201168" cy="201168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7033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sentiment strongly bullish — "inevitable adoption" narrative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005840"/>
            <a:ext cx="3977640" cy="3246120"/>
          </a:xfrm>
          <a:prstGeom prst="roundRect">
            <a:avLst>
              <a:gd name="adj" fmla="val 2817"/>
            </a:avLst>
          </a:prstGeom>
          <a:solidFill>
            <a:srgbClr val="006D77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Angles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92040" y="16002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600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89280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"Tenecteplase is now Class I-equivalent to alteplase — single push, $3K cheaper, at least as effective. Why is UpToDate still bolding alteplase?"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5146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514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80720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2026 stroke guidelines quietly made 3 huge changes: TNK for all, large core + 24h basilar window, and aggressive BP lowering may actually be harmful."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4290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4290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372160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2026 AHA/ASA guidelines mark the official end of alteplase's monopoly on thrombolysis. For systems that haven't switched yet, the question isn't 'if' but 'when.'"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70832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FDDD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370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HIGH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06040" y="4370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Twitter/X, LinkedIn, Reddit r/neurology, PubMed, AHA Journals | March 2026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2026-03-29T13:46:07Z</dcterms:created>
  <dcterms:modified xsi:type="dcterms:W3CDTF">2026-03-29T13:46:07Z</dcterms:modified>
</cp:coreProperties>
</file>