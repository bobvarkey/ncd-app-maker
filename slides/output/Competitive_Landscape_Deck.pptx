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4A4E6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4A4E6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2286000" cy="0"/>
          </a:xfrm>
          <a:prstGeom prst="line">
            <a:avLst/>
          </a:prstGeom>
          <a:noFill/>
          <a:ln w="38100">
            <a:solidFill>
              <a:srgbClr val="9A8C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E9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C9A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Product Name]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  ·  May 2026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4A4E6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6863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2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Analysis: @hyderabaddoctor · @EricTopol · @theliverdoc · @JAMANeuro · @GreenJournal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Positioning Matrix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80160"/>
            <a:ext cx="7498080" cy="3474720"/>
          </a:xfrm>
          <a:prstGeom prst="rect">
            <a:avLst/>
          </a:prstGeom>
          <a:solidFill>
            <a:srgbClr val="F2E9E4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0" y="1280160"/>
            <a:ext cx="0" cy="3474720"/>
          </a:xfrm>
          <a:prstGeom prst="line">
            <a:avLst/>
          </a:prstGeom>
          <a:noFill/>
          <a:ln w="9525">
            <a:solidFill>
              <a:srgbClr val="4A4E69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31520" y="3017520"/>
            <a:ext cx="7498080" cy="0"/>
          </a:xfrm>
          <a:prstGeom prst="line">
            <a:avLst/>
          </a:prstGeom>
          <a:noFill/>
          <a:ln w="9525">
            <a:solidFill>
              <a:srgbClr val="4A4E69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31520" y="48463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← Target Customer Size → Large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" y="1280160"/>
            <a:ext cx="640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                                   High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A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9A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Focus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A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Individual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A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/ Mass Market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A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Premium Scale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47572" y="1568196"/>
            <a:ext cx="292608" cy="292608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4" name="Text 12"/>
          <p:cNvSpPr/>
          <p:nvPr/>
        </p:nvSpPr>
        <p:spPr>
          <a:xfrm>
            <a:off x="1485900" y="15316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@hyderabad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084832" y="2002536"/>
            <a:ext cx="292608" cy="292608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6" name="Text 14"/>
          <p:cNvSpPr/>
          <p:nvPr/>
        </p:nvSpPr>
        <p:spPr>
          <a:xfrm>
            <a:off x="2423160" y="2011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@theliverdoc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396996" y="1655064"/>
            <a:ext cx="292608" cy="292608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8" name="Text 16"/>
          <p:cNvSpPr/>
          <p:nvPr/>
        </p:nvSpPr>
        <p:spPr>
          <a:xfrm>
            <a:off x="3735324" y="157276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@EricTopol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(Ground Truths)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084064" y="1741932"/>
            <a:ext cx="292608" cy="292608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20" name="Text 18"/>
          <p:cNvSpPr/>
          <p:nvPr/>
        </p:nvSpPr>
        <p:spPr>
          <a:xfrm>
            <a:off x="5422392" y="175107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@JAMANeuro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583680" y="3392424"/>
            <a:ext cx="292608" cy="292608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22" name="Text 20"/>
          <p:cNvSpPr/>
          <p:nvPr/>
        </p:nvSpPr>
        <p:spPr>
          <a:xfrm>
            <a:off x="6922008" y="331012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@GreenJournal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(Neurology)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@hyderabaddoctor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Sudhir Kumar MD DM · Neurologist, Apollo Hospitals Hyderabad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 a mission to prevent people from becoming patients"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26+ years neurology expertise at Apollo Hospitals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health education via X threads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consultation via Apollo 24/7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voice on stroke, epilepsy, headache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engaged following on 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103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 Consultation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₹1,200 (~$14 USD) per visit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6060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Face-to-face neurological examination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&amp; follow-up care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 diagnostic network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Consultation (Apollo 24/7): ₹500–₹1,000 per session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12700">
            <a:solidFill>
              <a:srgbClr val="C9AD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69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 well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personal brand built over 26+ years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reach via daily X content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40690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they're weak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42976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software/product — pure clinical practice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geographic scope (India only)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182880"/>
            <a:ext cx="2103120" cy="274320"/>
          </a:xfrm>
          <a:prstGeom prst="rect">
            <a:avLst>
              <a:gd name="adj" fmla="val 50000"/>
            </a:avLst>
          </a:prstGeom>
          <a:solidFill>
            <a:srgbClr val="9A8C98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182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Clinician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@EricTopol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Truths (Substack)  ·  Scripps Research  ·  Author 'Deep Medicine'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"Facts, data and analytics about biomedical matters"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biomedical research analysis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newsletter + podcast format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coverage (author of Deep Medicine)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206K free subscribers, 1000+ paid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Pre-tax proceeds fund Scripps Research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057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0" y="2057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A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$0/month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 posts delivered to inbox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743200"/>
            <a:ext cx="3931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788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(Recommended)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788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A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$8/month or $80/year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017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 episodes &amp; Q&amp;A sessions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topic requests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Proceeds support Scripps Research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12700">
            <a:solidFill>
              <a:srgbClr val="C9AD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69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 well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credibility — top 10 most cited researcher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engaged audience (206K+ subscribers)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40690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they're weak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42976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software product — newsletter only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content, no interactive tools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182880"/>
            <a:ext cx="2103120" cy="274320"/>
          </a:xfrm>
          <a:prstGeom prst="rect">
            <a:avLst>
              <a:gd name="adj" fmla="val 50000"/>
            </a:avLst>
          </a:prstGeom>
          <a:solidFill>
            <a:srgbClr val="9A8C98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182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/ Influencer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@theliverdoc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Cyriac Abby Philips · Senior Consultant, Rajagiri Hospital Kochi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"Clinician scientist battling Ayush misinformation, busting medical myths"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hepatologist — clinical &amp; transplant hepatology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voice against alternative medicine myths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published researcher on drug-induced liver injury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YouTube channel for liver health education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Multi-award winning clinician scientist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103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 Consultation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— hospital consultation fees at Rajagiri Hospital, Kochi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651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evaluation &amp; diagnostics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disease management &amp; transplant care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Drug-induced liver injury expertise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 or SaaS product — clinical practice only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12700">
            <a:solidFill>
              <a:srgbClr val="C9AD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69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 well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personal brand fighting medical misinformation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clinical + research background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40690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they're weak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42976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play — purely clinical practice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a single specialty (hepatology)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182880"/>
            <a:ext cx="2103120" cy="274320"/>
          </a:xfrm>
          <a:prstGeom prst="rect">
            <a:avLst>
              <a:gd name="adj" fmla="val 50000"/>
            </a:avLst>
          </a:prstGeom>
          <a:solidFill>
            <a:srgbClr val="9A8C98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182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Clinician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@JAMANeuro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 Neurology  ·  American Medical Association  ·  IF: 21.4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"Advancing Brain and Nervous System Science"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Factor 21.4 — top-tier neurology journal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peer review by JAMA Network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investigations, reviews, clinical trials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perspective from leading research centers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content: podcasts &amp; video summaries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Subscription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A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$649/year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+ online access, monthly issues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74320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7889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Access (Author APC)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2788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A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~$5,000/article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9718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CC-BY license, funder OA compliance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33756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383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/ Site License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3383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A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5661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AMA/Ovid for site license pricing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12700">
            <a:solidFill>
              <a:srgbClr val="C9AD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69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 well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neurology journal — highest IF in specialty (21.4)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AMA brand &amp; JAMA Network ecosystem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40690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they're weak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42976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expensive for individuals ($649/yr)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publication model — slow, read-only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182880"/>
            <a:ext cx="2103120" cy="274320"/>
          </a:xfrm>
          <a:prstGeom prst="rect">
            <a:avLst>
              <a:gd name="adj" fmla="val 50000"/>
            </a:avLst>
          </a:prstGeom>
          <a:solidFill>
            <a:srgbClr val="9A8C98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82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Journal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@GreenJournal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Neurology  ·  American Academy of Neurology  ·  IF: 9.0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D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most widely read and highly cited peer-reviewed neurology journal"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widely read neurology journal globally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journal of AAN (40,000+ members)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75-year publishing legacy since 1951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article model for faster publication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CME via AAN Online Learning Center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39319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9A8C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057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Member (Recommended)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A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access included with AAN membership dues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74320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788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Non-Member Individual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2788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A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9718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+ online or online-only via LWW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33756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383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/ Site License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3383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A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5661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Ovid/Wolters Kluwer for pricing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12700">
            <a:solidFill>
              <a:srgbClr val="C9AD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69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 well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reach — 'most widely read' neurology journal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AAN integration = built-in audience of 40K+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40690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they're weak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42976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impact factor (9.0) vs JAMA Neurology (21.4)</a:t>
            </a:r>
            <a:endParaRPr lang="en-US" sz="10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Non-member pricing hidden behind 'Custom' — not transparent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182880"/>
            <a:ext cx="2103120" cy="274320"/>
          </a:xfrm>
          <a:prstGeom prst="rect">
            <a:avLst>
              <a:gd name="adj" fmla="val 50000"/>
            </a:avLst>
          </a:prstGeom>
          <a:solidFill>
            <a:srgbClr val="9A8C98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82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Journal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Comparison Across All 5 Competitors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645920" cy="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1188720"/>
                <a:gridCol w="82296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Entry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@hyderabaddoctor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8C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₹1,200/visit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Per-visit fee, not SaaS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@EricTopol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Newsletter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Free posts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8C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Proceeds fund Scripps Res.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@theliverdoc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8C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fees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@JAMANeuro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8C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$649/yr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8C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APC ~$5K for OA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@GreenJournal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8C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 member incl.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8C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Non-member: Custom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108960"/>
            <a:ext cx="8412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Pricing Observations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▶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@EricTopol has a true free tier (all core posts) and transparent pricing ($8/mo)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▶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@JAMANeuro at $649/yr is the most expensive individual option — premium journal pricing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▶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@GreenJournal bundles journal access into AAN membership — price is opaque for non-members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▶"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five competitors offer a SaaS/product platform — they are journals, newsletters, or clinical practices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Parity Matrix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1645920" cy="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Supported  ·  — = Not available  ·  ~ = Partial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463040"/>
                <a:gridCol w="1097280"/>
                <a:gridCol w="128016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@hyderabad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@EricTopol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@theliverdoc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@JAMANeuro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@GreenJournal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software/product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Peer-reviewed research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8C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patient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Newsletter / content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tech in medicine focus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8C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available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 pricing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8C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/ institutional plan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audience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8C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8C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Evidence-based medicine advocacy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D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AD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DA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389120"/>
            <a:ext cx="8595360" cy="5486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gap: No competitor offers an interactive software product. All are content distribution (newsletters, journals) or clinical practices.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[Your Product Name] should differentiate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E9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software product,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content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five competitors offer an interactive software/SaaS product. They are all content distribution (journals, newsletters) or clinical practices. The opportunity is to build a tool clinicians actually use — not just read.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783080"/>
            <a:ext cx="457200" cy="45720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E9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the AI-in-medicine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niche no one owns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3200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Topol covers AI in medicine through written analysis, but no competitor offers an interactive AI-powered clinical tool. Position as the AI-native healthcare platform — combining the credibility of peer-reviewed evidence with actionable software.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55448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783080"/>
            <a:ext cx="457200" cy="45720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E9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2377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Transparent, accessible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as a moat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200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Journals hide behind '$649/yr' and 'Custom' pricing. Clinicians charge per visit. Only a Substack shows transparent pricing. A clear freemium or affordable subscription model would be a distinct advantage over both journal gatekeeping and per-visit fees.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opportunity: Be the first interactive, AI-enabled, transparently-priced platform in this competitive set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 Landscape Analysis</dc:title>
  <dc:subject>PptxGenJS Presentation</dc:subject>
  <dc:creator>OpenClaw Research Agent</dc:creator>
  <cp:lastModifiedBy>OpenClaw Research Agent</cp:lastModifiedBy>
  <cp:revision>1</cp:revision>
  <dcterms:created xsi:type="dcterms:W3CDTF">2026-05-26T01:56:27Z</dcterms:created>
  <dcterms:modified xsi:type="dcterms:W3CDTF">2026-05-26T01:56:27Z</dcterms:modified>
</cp:coreProperties>
</file>